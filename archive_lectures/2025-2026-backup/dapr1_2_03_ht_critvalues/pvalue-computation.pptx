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4" r:id="rId2"/>
    <p:sldId id="263" r:id="rId3"/>
    <p:sldId id="257" r:id="rId4"/>
    <p:sldId id="256" r:id="rId5"/>
    <p:sldId id="258" r:id="rId6"/>
    <p:sldId id="262" r:id="rId7"/>
    <p:sldId id="260" r:id="rId8"/>
    <p:sldId id="259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67A82AE-2E96-7D4A-9ED9-83D96D84EC71}" v="88" dt="2024-01-29T23:28:33.0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1"/>
    <p:restoredTop sz="94694"/>
  </p:normalViewPr>
  <p:slideViewPr>
    <p:cSldViewPr snapToGrid="0">
      <p:cViewPr varScale="1">
        <p:scale>
          <a:sx n="121" d="100"/>
          <a:sy n="121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89D97-D094-D49E-B7E0-4B89C93829C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460EFE-C9FB-1564-B25A-59AFD7D2D7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DF9D7-A64E-BCF8-1183-14279EE70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F425C5-5107-BE5D-24AD-08F2A198C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ABE57-34EF-F6B1-6454-DC2AAAD52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80146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A667-6E40-2A31-5BE7-F8EF2637E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6B19BC-9149-E3CA-2684-FBAFFE90D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D00854-D3A4-7308-870F-164A75B9C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D8E3D6-1AD4-C903-88BD-4DF8E042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A0312-1684-DBD8-EA8F-5304BC0DE9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0429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C664B-8EC6-90F2-BDF0-D703397A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E82D0-0CD7-0768-DD21-DEF909A113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82225-3756-9808-B1F2-D08F80428A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60C04A-E8B2-ACD4-3383-5007E5C3D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8C456-37C0-3031-EB87-63AF2D8A8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4273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B25F0-7789-3892-F9C6-5F95AE8F9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DCD3E-B54E-E976-8184-B7E8B0DA13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AE899-66F1-CC68-15FA-2DF5BBD829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FB36ED-3F64-3D4D-31E2-610D2EAB7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A4FDE2-B9A2-0479-E17C-4A2DCCEE2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E1652-32ED-6881-D097-2C27E97F2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8843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E0256-851B-64F9-6AB1-9C8596E72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C02B2-E153-C82A-5716-462A67B17E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C05AC-E32F-8669-FE54-B4E608382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74691-7DA7-05AF-0C5A-F95892839F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EA054F-D1D6-F66D-34FC-72F25BEF28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C45DA8-D9F8-DB69-9B48-9E4E79AD0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80711-0C36-4E01-48C6-5BBE3840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3A1682-1286-8222-1CC0-747AA3AF6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0306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6865F-0724-D906-5B7D-3CD1E30F7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097A79-3061-19F8-1145-C2CE58861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E3CCE6-5BE9-1A06-D003-4C46078B7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64A79B-A363-A336-495B-F7D8183F7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5728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C69B01-7DDF-E587-A2CB-B6F49AF0E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5CF90E-AD61-CAA8-E5CF-56D25C3CA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13569-B186-BAC5-1173-E74188CA6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6729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8B97-552B-10EA-3556-F0F438D83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75EAA9-AC2A-55B1-E949-560B7B873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22D833-B6EE-4243-DB55-5F281F17E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D844C-95DB-BCF4-3221-648CD49507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193480-AC99-B8AB-1615-0B41EB36DC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0C21F-144B-738D-B91A-677E1722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693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9C8CEB-8FB8-BED9-2EBC-446A5E8A7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BD7F2A-0085-C6BF-C9E0-9ABDC2FEE5F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113362-B806-227A-6A62-107DA96476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C9AA3C-BF53-D417-E4AE-C18A842CF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151A5F-EED5-8A6E-47F9-AEA181A6E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3D5867-59F6-4A7F-063D-22DCEC50B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8234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22BD1-99CD-1032-B221-688A48DCE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8D5838-4ADF-FA5B-3777-E4265FD8CD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6150B-FEAF-B1B6-25FF-5D6421B50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89811-8BA2-1150-7A42-2631ED433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1DCCE-858F-3BF5-26AC-6B73A953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1108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869888-91D8-656F-7982-2EFB2F24BA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69209D9-7CFA-4872-4DFE-9F06375FC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9EC2B-2C99-BA15-D14E-49F423E13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936606-83F7-BB03-EBDA-0C7256E92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2AFE66-E389-008D-DECE-C1E0A46A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41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BFBD1B-1CF7-AC59-5BBB-CAD0E0B64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416857-4F34-5464-0ACE-E2CE1C5792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E2B34B-478A-C49B-AB27-1D78D304DD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0DD3A1-3BCD-C64A-B935-8D78C5FCD975}" type="datetimeFigureOut">
              <a:rPr lang="en-GB" smtClean="0"/>
              <a:t>21/01/2026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2A1C3-A816-B77D-A2DE-BDA2BBE712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67FD6-501B-EB64-D9B8-AA6C0DE8A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4EE93-69CF-B240-84D1-A779EDE6C02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7812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392A83-E041-2AD5-1956-EAF4C2BFEA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6593" y="1132873"/>
            <a:ext cx="10478813" cy="3218409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GB" dirty="0"/>
              <a:t>Review of p-value computation</a:t>
            </a:r>
            <a:br>
              <a:rPr lang="en-GB" dirty="0"/>
            </a:br>
            <a:r>
              <a:rPr lang="en-GB" sz="3200" dirty="0"/>
              <a:t>Data Analysis for Psychology in R1</a:t>
            </a:r>
            <a:endParaRPr lang="en-GB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59ACF04-D75A-013B-9CB1-05937D28BC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16536"/>
            <a:ext cx="9144000" cy="961373"/>
          </a:xfrm>
        </p:spPr>
        <p:txBody>
          <a:bodyPr/>
          <a:lstStyle/>
          <a:p>
            <a:r>
              <a:rPr lang="en-GB" dirty="0"/>
              <a:t>Dr Umberto Noe</a:t>
            </a:r>
          </a:p>
        </p:txBody>
      </p:sp>
    </p:spTree>
    <p:extLst>
      <p:ext uri="{BB962C8B-B14F-4D97-AF65-F5344CB8AC3E}">
        <p14:creationId xmlns:p14="http://schemas.microsoft.com/office/powerpoint/2010/main" val="114628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67D40-EFDD-B2B6-1573-4FBDB84B2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15FDA-D505-4E46-E821-64D147EF6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if the observed t-statistic is positive?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AE3BF-2AB5-FAC3-BF88-1AF291902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544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B3660B1-034E-B139-B7EA-324AE58E4F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309"/>
          <a:stretch/>
        </p:blipFill>
        <p:spPr>
          <a:xfrm>
            <a:off x="701925" y="1543051"/>
            <a:ext cx="10788150" cy="434808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B35224-B7A7-EF96-7932-4736562C78AF}"/>
              </a:ext>
            </a:extLst>
          </p:cNvPr>
          <p:cNvSpPr txBox="1"/>
          <p:nvPr/>
        </p:nvSpPr>
        <p:spPr>
          <a:xfrm>
            <a:off x="1049800" y="5891137"/>
            <a:ext cx="6471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tobs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n-1,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lower.tail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4DABB3-33F7-765C-7027-50B02CD0D1FA}"/>
                  </a:ext>
                </a:extLst>
              </p:cNvPr>
              <p:cNvSpPr txBox="1"/>
              <p:nvPr/>
            </p:nvSpPr>
            <p:spPr>
              <a:xfrm>
                <a:off x="3045902" y="670286"/>
                <a:ext cx="702352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 	and	 </a:t>
                </a:r>
                <a:r>
                  <a:rPr lang="en-GB" sz="2400" dirty="0" err="1"/>
                  <a:t>tobs</a:t>
                </a:r>
                <a:r>
                  <a:rPr lang="en-GB" sz="2400" dirty="0"/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=+1.3</m:t>
                    </m:r>
                  </m:oMath>
                </a14:m>
                <a:r>
                  <a:rPr lang="en-GB" sz="2400" dirty="0"/>
                  <a:t>, 	</a:t>
                </a:r>
                <a:r>
                  <a:rPr lang="en-GB" sz="2400" dirty="0" err="1">
                    <a:solidFill>
                      <a:schemeClr val="accent1">
                        <a:lumMod val="75000"/>
                      </a:schemeClr>
                    </a:solidFill>
                  </a:rPr>
                  <a:t>pvalue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 = A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A4DABB3-33F7-765C-7027-50B02CD0D1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5902" y="670286"/>
                <a:ext cx="7023526" cy="461665"/>
              </a:xfrm>
              <a:prstGeom prst="rect">
                <a:avLst/>
              </a:prstGeom>
              <a:blipFill>
                <a:blip r:embed="rId3"/>
                <a:stretch>
                  <a:fillRect l="-1447" t="-7895" r="-362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44515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7B08098-090F-F27A-F37E-A2FC2B76BA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4930"/>
          <a:stretch/>
        </p:blipFill>
        <p:spPr>
          <a:xfrm>
            <a:off x="648378" y="1545193"/>
            <a:ext cx="10895241" cy="45349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3CD7807-F48C-8138-5C80-6C5B280DE049}"/>
              </a:ext>
            </a:extLst>
          </p:cNvPr>
          <p:cNvSpPr txBox="1"/>
          <p:nvPr/>
        </p:nvSpPr>
        <p:spPr>
          <a:xfrm>
            <a:off x="5231304" y="6010811"/>
            <a:ext cx="6641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tobs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n-1,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lower.tail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6EDA33-3E66-C6F5-5E8E-8053DB73B182}"/>
                  </a:ext>
                </a:extLst>
              </p:cNvPr>
              <p:cNvSpPr txBox="1"/>
              <p:nvPr/>
            </p:nvSpPr>
            <p:spPr>
              <a:xfrm>
                <a:off x="3051512" y="691182"/>
                <a:ext cx="70123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 	and	</a:t>
                </a:r>
                <a:r>
                  <a:rPr lang="en-GB" sz="2400" dirty="0" err="1"/>
                  <a:t>tobs</a:t>
                </a:r>
                <a:r>
                  <a:rPr lang="en-GB" sz="2400" dirty="0"/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=+1.3</m:t>
                    </m:r>
                  </m:oMath>
                </a14:m>
                <a:r>
                  <a:rPr lang="en-GB" sz="2400" dirty="0"/>
                  <a:t>, 	</a:t>
                </a:r>
                <a:r>
                  <a:rPr lang="en-GB" sz="2400" dirty="0" err="1">
                    <a:solidFill>
                      <a:schemeClr val="accent1">
                        <a:lumMod val="75000"/>
                      </a:schemeClr>
                    </a:solidFill>
                  </a:rPr>
                  <a:t>pvalue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 = B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6EDA33-3E66-C6F5-5E8E-8053DB73B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512" y="691182"/>
                <a:ext cx="7012304" cy="461665"/>
              </a:xfrm>
              <a:prstGeom prst="rect">
                <a:avLst/>
              </a:prstGeom>
              <a:blipFill>
                <a:blip r:embed="rId3"/>
                <a:stretch>
                  <a:fillRect l="-1447" t="-8108" r="-362" b="-29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3892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C65DF6-3FB5-297A-F105-BE31958AF25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8630"/>
          <a:stretch/>
        </p:blipFill>
        <p:spPr>
          <a:xfrm>
            <a:off x="808511" y="1458019"/>
            <a:ext cx="10852404" cy="42944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D76883-B274-D633-C344-CCABF3EBA81B}"/>
              </a:ext>
            </a:extLst>
          </p:cNvPr>
          <p:cNvSpPr txBox="1"/>
          <p:nvPr/>
        </p:nvSpPr>
        <p:spPr>
          <a:xfrm>
            <a:off x="3490088" y="5834549"/>
            <a:ext cx="817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*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(abs(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tobs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n-1,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lower.tail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C664EE-FCB4-EDBD-F215-44EF9596E094}"/>
                  </a:ext>
                </a:extLst>
              </p:cNvPr>
              <p:cNvSpPr txBox="1"/>
              <p:nvPr/>
            </p:nvSpPr>
            <p:spPr>
              <a:xfrm>
                <a:off x="2849770" y="434923"/>
                <a:ext cx="74787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 	and	</a:t>
                </a:r>
                <a:r>
                  <a:rPr lang="en-GB" sz="2400" dirty="0" err="1"/>
                  <a:t>tobs</a:t>
                </a:r>
                <a:r>
                  <a:rPr lang="en-GB" sz="2400" dirty="0"/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=+1.3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GB" sz="2400" dirty="0"/>
                  <a:t>	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pvalue = A + C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3C664EE-FCB4-EDBD-F215-44EF9596E0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9770" y="434923"/>
                <a:ext cx="7478779" cy="461665"/>
              </a:xfrm>
              <a:prstGeom prst="rect">
                <a:avLst/>
              </a:prstGeom>
              <a:blipFill>
                <a:blip r:embed="rId3"/>
                <a:stretch>
                  <a:fillRect l="-1356" t="-8108" r="-339" b="-29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575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3B57-9E22-D8B5-0DB7-F61146DD0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if the observed t-statistic is negative?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270F8F-26F7-AE9F-EDD8-8164B65E2B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161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94FD80C-D1CF-0E64-47C1-CFE6448BAC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848" y="1270330"/>
            <a:ext cx="6870865" cy="469181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060B88-219E-F693-D247-650D215A1007}"/>
                  </a:ext>
                </a:extLst>
              </p:cNvPr>
              <p:cNvSpPr txBox="1"/>
              <p:nvPr/>
            </p:nvSpPr>
            <p:spPr>
              <a:xfrm>
                <a:off x="2883848" y="577833"/>
                <a:ext cx="709245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 	and 	tobs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=−1.3</m:t>
                    </m:r>
                  </m:oMath>
                </a14:m>
                <a:r>
                  <a:rPr lang="en-GB" sz="2400" dirty="0"/>
                  <a:t>,	 </a:t>
                </a:r>
                <a:r>
                  <a:rPr lang="en-GB" sz="2400" dirty="0" err="1">
                    <a:solidFill>
                      <a:schemeClr val="accent1">
                        <a:lumMod val="75000"/>
                      </a:schemeClr>
                    </a:solidFill>
                  </a:rPr>
                  <a:t>pvalue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 = A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9060B88-219E-F693-D247-650D215A10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3848" y="577833"/>
                <a:ext cx="7092454" cy="461665"/>
              </a:xfrm>
              <a:prstGeom prst="rect">
                <a:avLst/>
              </a:prstGeom>
              <a:blipFill>
                <a:blip r:embed="rId3"/>
                <a:stretch>
                  <a:fillRect l="-1431" t="-7895" r="-358" b="-263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0219A100-E4B7-6730-8969-401D9A3BA22F}"/>
              </a:ext>
            </a:extLst>
          </p:cNvPr>
          <p:cNvSpPr txBox="1"/>
          <p:nvPr/>
        </p:nvSpPr>
        <p:spPr>
          <a:xfrm>
            <a:off x="489626" y="6049334"/>
            <a:ext cx="64716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tobs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n-1,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lower.tail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TRUE)</a:t>
            </a:r>
          </a:p>
        </p:txBody>
      </p:sp>
    </p:spTree>
    <p:extLst>
      <p:ext uri="{BB962C8B-B14F-4D97-AF65-F5344CB8AC3E}">
        <p14:creationId xmlns:p14="http://schemas.microsoft.com/office/powerpoint/2010/main" val="1549726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0DEE78-06B3-355E-54DA-564BBC7BD8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2488" y="1316196"/>
            <a:ext cx="6977743" cy="4764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3EE925-019C-00AB-A1E5-82DCCE0397CF}"/>
                  </a:ext>
                </a:extLst>
              </p:cNvPr>
              <p:cNvSpPr txBox="1"/>
              <p:nvPr/>
            </p:nvSpPr>
            <p:spPr>
              <a:xfrm>
                <a:off x="3051512" y="443925"/>
                <a:ext cx="7012304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 	and 	tobs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=−1.3</m:t>
                    </m:r>
                  </m:oMath>
                </a14:m>
                <a:r>
                  <a:rPr lang="en-GB" sz="2400" dirty="0"/>
                  <a:t>, 	</a:t>
                </a:r>
                <a:r>
                  <a:rPr lang="en-GB" sz="2400" dirty="0" err="1">
                    <a:solidFill>
                      <a:schemeClr val="accent1">
                        <a:lumMod val="75000"/>
                      </a:schemeClr>
                    </a:solidFill>
                  </a:rPr>
                  <a:t>pvalue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 = B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53EE925-019C-00AB-A1E5-82DCCE039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1512" y="443925"/>
                <a:ext cx="7012304" cy="461665"/>
              </a:xfrm>
              <a:prstGeom prst="rect">
                <a:avLst/>
              </a:prstGeom>
              <a:blipFill>
                <a:blip r:embed="rId3"/>
                <a:stretch>
                  <a:fillRect l="-1447" t="-8108" r="-362" b="-297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0823D22-07D5-F0D6-E70D-7D0AB3A706E4}"/>
              </a:ext>
            </a:extLst>
          </p:cNvPr>
          <p:cNvSpPr txBox="1"/>
          <p:nvPr/>
        </p:nvSpPr>
        <p:spPr>
          <a:xfrm>
            <a:off x="5143948" y="5960416"/>
            <a:ext cx="6641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tobs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n-1,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lower.tail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FALSE)</a:t>
            </a:r>
          </a:p>
        </p:txBody>
      </p:sp>
    </p:spTree>
    <p:extLst>
      <p:ext uri="{BB962C8B-B14F-4D97-AF65-F5344CB8AC3E}">
        <p14:creationId xmlns:p14="http://schemas.microsoft.com/office/powerpoint/2010/main" val="2561628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629111F-5872-9E08-D26A-2DA8D44096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875" y="1266291"/>
            <a:ext cx="7120247" cy="48621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D3E793-37CE-40A4-DF9B-3F67AA4F0758}"/>
                  </a:ext>
                </a:extLst>
              </p:cNvPr>
              <p:cNvSpPr txBox="1"/>
              <p:nvPr/>
            </p:nvSpPr>
            <p:spPr>
              <a:xfrm>
                <a:off x="2887202" y="402406"/>
                <a:ext cx="734092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GB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GB" sz="2400" dirty="0"/>
                  <a:t> 	and 	</a:t>
                </a:r>
                <a:r>
                  <a:rPr lang="en-GB" sz="2400" dirty="0" err="1"/>
                  <a:t>tobs</a:t>
                </a:r>
                <a:r>
                  <a:rPr lang="en-GB" sz="2400" dirty="0"/>
                  <a:t> =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=−1.3</m:t>
                    </m:r>
                  </m:oMath>
                </a14:m>
                <a:r>
                  <a:rPr lang="en-GB" sz="2400" dirty="0"/>
                  <a:t>, 	</a:t>
                </a:r>
                <a:r>
                  <a:rPr lang="en-GB" sz="2400" dirty="0" err="1">
                    <a:solidFill>
                      <a:schemeClr val="accent1">
                        <a:lumMod val="75000"/>
                      </a:schemeClr>
                    </a:solidFill>
                  </a:rPr>
                  <a:t>pvalue</a:t>
                </a:r>
                <a:r>
                  <a:rPr lang="en-GB" sz="2400" dirty="0">
                    <a:solidFill>
                      <a:schemeClr val="accent1">
                        <a:lumMod val="75000"/>
                      </a:schemeClr>
                    </a:solidFill>
                  </a:rPr>
                  <a:t> = A+C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8D3E793-37CE-40A4-DF9B-3F67AA4F0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87202" y="402406"/>
                <a:ext cx="7340920" cy="461665"/>
              </a:xfrm>
              <a:prstGeom prst="rect">
                <a:avLst/>
              </a:prstGeom>
              <a:blipFill>
                <a:blip r:embed="rId3"/>
                <a:stretch>
                  <a:fillRect l="-1382" t="-7895" r="-345" b="-289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6C385A41-BB59-3FD1-D9F7-9C83E0E85A08}"/>
              </a:ext>
            </a:extLst>
          </p:cNvPr>
          <p:cNvSpPr txBox="1"/>
          <p:nvPr/>
        </p:nvSpPr>
        <p:spPr>
          <a:xfrm>
            <a:off x="3615339" y="6128402"/>
            <a:ext cx="81708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 *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pt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(abs(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tobs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df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n-1, </a:t>
            </a:r>
            <a:r>
              <a:rPr lang="en-GB" sz="2400" b="1" dirty="0" err="1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lower.tail</a:t>
            </a:r>
            <a:r>
              <a:rPr lang="en-GB" sz="2400" b="1" dirty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FALSE)</a:t>
            </a:r>
          </a:p>
        </p:txBody>
      </p:sp>
    </p:spTree>
    <p:extLst>
      <p:ext uri="{BB962C8B-B14F-4D97-AF65-F5344CB8AC3E}">
        <p14:creationId xmlns:p14="http://schemas.microsoft.com/office/powerpoint/2010/main" val="21352435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245</Words>
  <Application>Microsoft Macintosh PowerPoint</Application>
  <PresentationFormat>Widescreen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Consolas</vt:lpstr>
      <vt:lpstr>Office Theme</vt:lpstr>
      <vt:lpstr>Review of p-value computation Data Analysis for Psychology in R1</vt:lpstr>
      <vt:lpstr>What if the observed t-statistic is positive?</vt:lpstr>
      <vt:lpstr>PowerPoint Presentation</vt:lpstr>
      <vt:lpstr>PowerPoint Presentation</vt:lpstr>
      <vt:lpstr>PowerPoint Presentation</vt:lpstr>
      <vt:lpstr>What if the observed t-statistic is negative?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if the observed t-statistic is positive?</dc:title>
  <dc:creator>Umberto Noe</dc:creator>
  <cp:lastModifiedBy>Umberto Noe</cp:lastModifiedBy>
  <cp:revision>9</cp:revision>
  <dcterms:created xsi:type="dcterms:W3CDTF">2024-01-29T23:13:19Z</dcterms:created>
  <dcterms:modified xsi:type="dcterms:W3CDTF">2026-01-21T16:11:05Z</dcterms:modified>
</cp:coreProperties>
</file>